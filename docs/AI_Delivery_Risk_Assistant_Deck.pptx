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777240" y="2490469"/>
            <a:ext cx="10634472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AI DELIVERY RISK ASSISTANT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77239" y="3353896"/>
            <a:ext cx="9509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>
                <a:solidFill>
                  <a:srgbClr val="CADCFC"/>
                </a:solidFill>
              </a:defRPr>
            </a:lvl1pPr>
          </a:lstStyle>
          <a:p>
            <a:pPr/>
            <a:r>
              <a:t>Grounded delivery risk auditing — not another status summarizer.</a:t>
            </a:r>
          </a:p>
        </p:txBody>
      </p:sp>
      <p:sp>
        <p:nvSpPr>
          <p:cNvPr id="22" name="Shape 2"/>
          <p:cNvSpPr/>
          <p:nvPr/>
        </p:nvSpPr>
        <p:spPr>
          <a:xfrm>
            <a:off x="777240" y="3977640"/>
            <a:ext cx="128017" cy="128017"/>
          </a:xfrm>
          <a:prstGeom prst="ellipse">
            <a:avLst/>
          </a:prstGeom>
          <a:solidFill>
            <a:srgbClr val="1E7A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960119" y="3977640"/>
            <a:ext cx="128017" cy="128017"/>
          </a:xfrm>
          <a:prstGeom prst="ellipse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1234439" y="3926639"/>
            <a:ext cx="53949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CADCFC"/>
                </a:solidFill>
              </a:defRPr>
            </a:lvl1pPr>
          </a:lstStyle>
          <a:p>
            <a:pPr/>
            <a:r>
              <a:t>Green on the outside. Red on the inside.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777239" y="6180258"/>
            <a:ext cx="5394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CADCFC"/>
                </a:solidFill>
              </a:defRPr>
            </a:lvl1pPr>
          </a:lstStyle>
          <a:p>
            <a:pPr/>
            <a:r>
              <a:t>Project 3  |  Akansha Verma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594359" y="411480"/>
            <a:ext cx="1097280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this problem stays invisible today</a:t>
            </a:r>
          </a:p>
        </p:txBody>
      </p:sp>
      <p:sp>
        <p:nvSpPr>
          <p:cNvPr id="28" name="Shape 1"/>
          <p:cNvSpPr/>
          <p:nvPr/>
        </p:nvSpPr>
        <p:spPr>
          <a:xfrm>
            <a:off x="471012" y="1270000"/>
            <a:ext cx="5212081" cy="5029200"/>
          </a:xfrm>
          <a:prstGeom prst="roundRect">
            <a:avLst>
              <a:gd name="adj" fmla="val 2182"/>
            </a:avLst>
          </a:prstGeom>
          <a:solidFill>
            <a:srgbClr val="F7F8FB"/>
          </a:solidFill>
          <a:ln w="12700">
            <a:solidFill>
              <a:srgbClr val="CADCFC"/>
            </a:solidFill>
          </a:ln>
          <a:effectLst>
            <a:outerShdw sx="100000" sy="100000" kx="0" ky="0" algn="b" rotWithShape="0" blurRad="76200" dist="25400" dir="5400000">
              <a:srgbClr val="999999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" name="Text 2"/>
          <p:cNvSpPr txBox="1"/>
          <p:nvPr/>
        </p:nvSpPr>
        <p:spPr>
          <a:xfrm>
            <a:off x="914400" y="1512569"/>
            <a:ext cx="4480560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The “watermelon” status report</a:t>
            </a:r>
          </a:p>
        </p:txBody>
      </p:sp>
      <p:sp>
        <p:nvSpPr>
          <p:cNvPr id="30" name="Text 5"/>
          <p:cNvSpPr txBox="1"/>
          <p:nvPr/>
        </p:nvSpPr>
        <p:spPr>
          <a:xfrm>
            <a:off x="3144520" y="2724403"/>
            <a:ext cx="2258904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300">
                <a:solidFill>
                  <a:srgbClr val="5B6472"/>
                </a:solidFill>
              </a:defRPr>
            </a:lvl1pPr>
          </a:lstStyle>
          <a:p>
            <a:pPr/>
            <a:r>
              <a:t>“On track — no blockers to flag.”</a:t>
            </a:r>
          </a:p>
        </p:txBody>
      </p:sp>
      <p:sp>
        <p:nvSpPr>
          <p:cNvPr id="31" name="Shape 6"/>
          <p:cNvSpPr/>
          <p:nvPr/>
        </p:nvSpPr>
        <p:spPr>
          <a:xfrm>
            <a:off x="868680" y="4014215"/>
            <a:ext cx="109729" cy="109729"/>
          </a:xfrm>
          <a:prstGeom prst="ellipse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7"/>
          <p:cNvSpPr txBox="1"/>
          <p:nvPr/>
        </p:nvSpPr>
        <p:spPr>
          <a:xfrm>
            <a:off x="1188720" y="3964329"/>
            <a:ext cx="42062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E2761"/>
                </a:solidFill>
              </a:defRPr>
            </a:lvl1pPr>
          </a:lstStyle>
          <a:p>
            <a:pPr/>
            <a:r>
              <a:t>A weekly status report says the project is on track.</a:t>
            </a:r>
          </a:p>
        </p:txBody>
      </p:sp>
      <p:sp>
        <p:nvSpPr>
          <p:cNvPr id="33" name="Shape 8"/>
          <p:cNvSpPr/>
          <p:nvPr/>
        </p:nvSpPr>
        <p:spPr>
          <a:xfrm>
            <a:off x="868680" y="4516264"/>
            <a:ext cx="109729" cy="109729"/>
          </a:xfrm>
          <a:prstGeom prst="ellipse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9"/>
          <p:cNvSpPr txBox="1"/>
          <p:nvPr/>
        </p:nvSpPr>
        <p:spPr>
          <a:xfrm>
            <a:off x="1188720" y="4430556"/>
            <a:ext cx="420624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E2761"/>
                </a:solidFill>
              </a:defRPr>
            </a:lvl1pPr>
          </a:lstStyle>
          <a:p>
            <a:pPr/>
            <a:r>
              <a:t>A ticket export shows a critical dependency blocked for 9 days.</a:t>
            </a:r>
          </a:p>
        </p:txBody>
      </p:sp>
      <p:sp>
        <p:nvSpPr>
          <p:cNvPr id="35" name="Shape 10"/>
          <p:cNvSpPr/>
          <p:nvPr/>
        </p:nvSpPr>
        <p:spPr>
          <a:xfrm>
            <a:off x="868680" y="5134355"/>
            <a:ext cx="109729" cy="109729"/>
          </a:xfrm>
          <a:prstGeom prst="ellipse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1"/>
          <p:cNvSpPr txBox="1"/>
          <p:nvPr/>
        </p:nvSpPr>
        <p:spPr>
          <a:xfrm>
            <a:off x="1188720" y="4958519"/>
            <a:ext cx="420624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E2761"/>
                </a:solidFill>
              </a:defRPr>
            </a:lvl1pPr>
          </a:lstStyle>
          <a:p>
            <a:pPr/>
            <a:r>
              <a:t>A standup transcript has an engineer saying they don't expect to hit the deadline.</a:t>
            </a:r>
          </a:p>
        </p:txBody>
      </p:sp>
      <p:sp>
        <p:nvSpPr>
          <p:cNvPr id="37" name="Text 12"/>
          <p:cNvSpPr txBox="1"/>
          <p:nvPr/>
        </p:nvSpPr>
        <p:spPr>
          <a:xfrm>
            <a:off x="914400" y="5577840"/>
            <a:ext cx="448056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i="1" sz="1300">
                <a:solidFill>
                  <a:srgbClr val="C0392B"/>
                </a:solidFill>
              </a:defRPr>
            </a:lvl1pPr>
          </a:lstStyle>
          <a:p>
            <a:pPr/>
            <a:r>
              <a:t>All of that information already exists — nobody has connected it.</a:t>
            </a:r>
          </a:p>
        </p:txBody>
      </p:sp>
      <p:sp>
        <p:nvSpPr>
          <p:cNvPr id="38" name="Text 13"/>
          <p:cNvSpPr txBox="1"/>
          <p:nvPr/>
        </p:nvSpPr>
        <p:spPr>
          <a:xfrm>
            <a:off x="6080760" y="1263649"/>
            <a:ext cx="54864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5B647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existing approaches miss it</a:t>
            </a:r>
          </a:p>
        </p:txBody>
      </p:sp>
      <p:sp>
        <p:nvSpPr>
          <p:cNvPr id="39" name="Shape 14"/>
          <p:cNvSpPr/>
          <p:nvPr/>
        </p:nvSpPr>
        <p:spPr>
          <a:xfrm>
            <a:off x="6035040" y="1691639"/>
            <a:ext cx="5577841" cy="1463041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15"/>
          <p:cNvSpPr/>
          <p:nvPr/>
        </p:nvSpPr>
        <p:spPr>
          <a:xfrm>
            <a:off x="6263640" y="1920239"/>
            <a:ext cx="457201" cy="45720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6"/>
          <p:cNvSpPr txBox="1"/>
          <p:nvPr/>
        </p:nvSpPr>
        <p:spPr>
          <a:xfrm>
            <a:off x="6309360" y="1998543"/>
            <a:ext cx="365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" name="Text 17"/>
          <p:cNvSpPr txBox="1"/>
          <p:nvPr/>
        </p:nvSpPr>
        <p:spPr>
          <a:xfrm>
            <a:off x="6949439" y="1875852"/>
            <a:ext cx="43891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Jira / Linear dashboards</a:t>
            </a:r>
          </a:p>
        </p:txBody>
      </p:sp>
      <p:sp>
        <p:nvSpPr>
          <p:cNvPr id="43" name="Text 18"/>
          <p:cNvSpPr txBox="1"/>
          <p:nvPr/>
        </p:nvSpPr>
        <p:spPr>
          <a:xfrm>
            <a:off x="6949439" y="2194560"/>
            <a:ext cx="43891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B6472"/>
                </a:solidFill>
              </a:defRPr>
            </a:lvl1pPr>
          </a:lstStyle>
          <a:p>
            <a:pPr/>
            <a:r>
              <a:t>Systems of record. Show what was entered — not whether it's still true, and never cross-reference against a transcript or postmortem.</a:t>
            </a:r>
          </a:p>
        </p:txBody>
      </p:sp>
      <p:sp>
        <p:nvSpPr>
          <p:cNvPr id="44" name="Shape 19"/>
          <p:cNvSpPr/>
          <p:nvPr/>
        </p:nvSpPr>
        <p:spPr>
          <a:xfrm>
            <a:off x="6035040" y="3337559"/>
            <a:ext cx="5577841" cy="1463041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20"/>
          <p:cNvSpPr/>
          <p:nvPr/>
        </p:nvSpPr>
        <p:spPr>
          <a:xfrm>
            <a:off x="6263640" y="3566159"/>
            <a:ext cx="457201" cy="45720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21"/>
          <p:cNvSpPr txBox="1"/>
          <p:nvPr/>
        </p:nvSpPr>
        <p:spPr>
          <a:xfrm>
            <a:off x="6309360" y="3644463"/>
            <a:ext cx="365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7" name="Text 22"/>
          <p:cNvSpPr txBox="1"/>
          <p:nvPr/>
        </p:nvSpPr>
        <p:spPr>
          <a:xfrm>
            <a:off x="6949439" y="3521772"/>
            <a:ext cx="43891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Generic LLM chat</a:t>
            </a:r>
          </a:p>
        </p:txBody>
      </p:sp>
      <p:sp>
        <p:nvSpPr>
          <p:cNvPr id="48" name="Text 23"/>
          <p:cNvSpPr txBox="1"/>
          <p:nvPr/>
        </p:nvSpPr>
        <p:spPr>
          <a:xfrm>
            <a:off x="6949439" y="3840479"/>
            <a:ext cx="438912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B6472"/>
                </a:solidFill>
              </a:defRPr>
            </a:lvl1pPr>
          </a:lstStyle>
          <a:p>
            <a:pPr/>
            <a:r>
              <a:t>Paste documents, get a summary. No structural guarantee against fabricating a claim or blending unrelated context.</a:t>
            </a:r>
          </a:p>
        </p:txBody>
      </p:sp>
      <p:sp>
        <p:nvSpPr>
          <p:cNvPr id="49" name="Shape 24"/>
          <p:cNvSpPr/>
          <p:nvPr/>
        </p:nvSpPr>
        <p:spPr>
          <a:xfrm>
            <a:off x="6035040" y="4983479"/>
            <a:ext cx="5577841" cy="1463041"/>
          </a:xfrm>
          <a:prstGeom prst="roundRect">
            <a:avLst>
              <a:gd name="adj" fmla="val 6250"/>
            </a:avLst>
          </a:prstGeom>
          <a:solidFill>
            <a:srgbClr val="EEF3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25"/>
          <p:cNvSpPr/>
          <p:nvPr/>
        </p:nvSpPr>
        <p:spPr>
          <a:xfrm>
            <a:off x="6263640" y="5212079"/>
            <a:ext cx="457201" cy="45720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26"/>
          <p:cNvSpPr txBox="1"/>
          <p:nvPr/>
        </p:nvSpPr>
        <p:spPr>
          <a:xfrm>
            <a:off x="6309360" y="5290383"/>
            <a:ext cx="365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" name="Text 27"/>
          <p:cNvSpPr txBox="1"/>
          <p:nvPr/>
        </p:nvSpPr>
        <p:spPr>
          <a:xfrm>
            <a:off x="6949439" y="5167692"/>
            <a:ext cx="43891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Manual PM synthesis</a:t>
            </a:r>
          </a:p>
        </p:txBody>
      </p:sp>
      <p:sp>
        <p:nvSpPr>
          <p:cNvPr id="53" name="Text 28"/>
          <p:cNvSpPr txBox="1"/>
          <p:nvPr/>
        </p:nvSpPr>
        <p:spPr>
          <a:xfrm>
            <a:off x="6949439" y="5486400"/>
            <a:ext cx="43891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5B6472"/>
                </a:solidFill>
              </a:defRPr>
            </a:lvl1pPr>
          </a:lstStyle>
          <a:p>
            <a:pPr/>
            <a:r>
              <a:t>The actual status quo. Reading everything by hand, with no structural check for contradictions.</a:t>
            </a:r>
          </a:p>
        </p:txBody>
      </p:sp>
      <p:sp>
        <p:nvSpPr>
          <p:cNvPr id="54" name="Shape 2"/>
          <p:cNvSpPr/>
          <p:nvPr/>
        </p:nvSpPr>
        <p:spPr>
          <a:xfrm>
            <a:off x="896305" y="1870106"/>
            <a:ext cx="2075495" cy="1979429"/>
          </a:xfrm>
          <a:prstGeom prst="ellipse">
            <a:avLst/>
          </a:prstGeom>
          <a:solidFill>
            <a:srgbClr val="2C5F2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3"/>
          <p:cNvSpPr/>
          <p:nvPr/>
        </p:nvSpPr>
        <p:spPr>
          <a:xfrm>
            <a:off x="1216345" y="2143759"/>
            <a:ext cx="1435416" cy="1463041"/>
          </a:xfrm>
          <a:prstGeom prst="ellipse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hape 4"/>
          <p:cNvSpPr/>
          <p:nvPr/>
        </p:nvSpPr>
        <p:spPr>
          <a:xfrm>
            <a:off x="1490665" y="2426746"/>
            <a:ext cx="886776" cy="905735"/>
          </a:xfrm>
          <a:prstGeom prst="ellipse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5"/>
          <p:cNvSpPr txBox="1"/>
          <p:nvPr/>
        </p:nvSpPr>
        <p:spPr>
          <a:xfrm>
            <a:off x="1249595" y="2655823"/>
            <a:ext cx="1368916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Status:</a:t>
            </a:r>
          </a:p>
          <a:p>
            <a:pPr algn="ctr">
              <a:defRPr b="1" sz="1300">
                <a:solidFill>
                  <a:srgbClr val="FFFFFF"/>
                </a:solidFill>
              </a:defRPr>
            </a:pPr>
            <a:r>
              <a:t>GREEN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594359" y="361950"/>
            <a:ext cx="10972801" cy="51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How: three non-negotiable design principles</a:t>
            </a:r>
          </a:p>
        </p:txBody>
      </p:sp>
      <p:sp>
        <p:nvSpPr>
          <p:cNvPr id="60" name="Shape 1"/>
          <p:cNvSpPr/>
          <p:nvPr/>
        </p:nvSpPr>
        <p:spPr>
          <a:xfrm>
            <a:off x="548640" y="1051560"/>
            <a:ext cx="3611880" cy="1115075"/>
          </a:xfrm>
          <a:prstGeom prst="roundRect">
            <a:avLst>
              <a:gd name="adj" fmla="val 8201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Shape 2"/>
          <p:cNvSpPr/>
          <p:nvPr/>
        </p:nvSpPr>
        <p:spPr>
          <a:xfrm>
            <a:off x="777240" y="1252727"/>
            <a:ext cx="365761" cy="365762"/>
          </a:xfrm>
          <a:prstGeom prst="ellipse">
            <a:avLst/>
          </a:prstGeom>
          <a:solidFill>
            <a:srgbClr val="CADC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3"/>
          <p:cNvSpPr txBox="1"/>
          <p:nvPr/>
        </p:nvSpPr>
        <p:spPr>
          <a:xfrm>
            <a:off x="822960" y="1295208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" name="Text 4"/>
          <p:cNvSpPr txBox="1"/>
          <p:nvPr/>
        </p:nvSpPr>
        <p:spPr>
          <a:xfrm>
            <a:off x="1227596" y="1306507"/>
            <a:ext cx="2658604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Citation-or-reject grounding</a:t>
            </a:r>
          </a:p>
        </p:txBody>
      </p:sp>
      <p:sp>
        <p:nvSpPr>
          <p:cNvPr id="64" name="Text 5"/>
          <p:cNvSpPr txBox="1"/>
          <p:nvPr/>
        </p:nvSpPr>
        <p:spPr>
          <a:xfrm>
            <a:off x="822959" y="1677714"/>
            <a:ext cx="306324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Every risk traces to a real cited chunk, enforced in code. Unsupported claims are rejected before reporting.</a:t>
            </a:r>
          </a:p>
        </p:txBody>
      </p:sp>
      <p:sp>
        <p:nvSpPr>
          <p:cNvPr id="65" name="Shape 6"/>
          <p:cNvSpPr/>
          <p:nvPr/>
        </p:nvSpPr>
        <p:spPr>
          <a:xfrm>
            <a:off x="4297679" y="1051560"/>
            <a:ext cx="3611881" cy="1115075"/>
          </a:xfrm>
          <a:prstGeom prst="roundRect">
            <a:avLst>
              <a:gd name="adj" fmla="val 8201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7"/>
          <p:cNvSpPr/>
          <p:nvPr/>
        </p:nvSpPr>
        <p:spPr>
          <a:xfrm>
            <a:off x="4526279" y="1252727"/>
            <a:ext cx="365761" cy="365762"/>
          </a:xfrm>
          <a:prstGeom prst="ellipse">
            <a:avLst/>
          </a:prstGeom>
          <a:solidFill>
            <a:srgbClr val="CADC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8"/>
          <p:cNvSpPr txBox="1"/>
          <p:nvPr/>
        </p:nvSpPr>
        <p:spPr>
          <a:xfrm>
            <a:off x="4572000" y="1295208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8" name="Text 9"/>
          <p:cNvSpPr txBox="1"/>
          <p:nvPr/>
        </p:nvSpPr>
        <p:spPr>
          <a:xfrm>
            <a:off x="5074919" y="1306507"/>
            <a:ext cx="278892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Context-consistency guardrail</a:t>
            </a:r>
          </a:p>
        </p:txBody>
      </p:sp>
      <p:sp>
        <p:nvSpPr>
          <p:cNvPr id="69" name="Text 10"/>
          <p:cNvSpPr txBox="1"/>
          <p:nvPr/>
        </p:nvSpPr>
        <p:spPr>
          <a:xfrm>
            <a:off x="4709159" y="1595164"/>
            <a:ext cx="306324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Two individually-true facts from different projects can't be stitched into one risk. Cross-project contamination is rejected.</a:t>
            </a:r>
          </a:p>
        </p:txBody>
      </p:sp>
      <p:sp>
        <p:nvSpPr>
          <p:cNvPr id="70" name="Shape 11"/>
          <p:cNvSpPr/>
          <p:nvPr/>
        </p:nvSpPr>
        <p:spPr>
          <a:xfrm>
            <a:off x="8046719" y="1051560"/>
            <a:ext cx="3611881" cy="1115075"/>
          </a:xfrm>
          <a:prstGeom prst="roundRect">
            <a:avLst>
              <a:gd name="adj" fmla="val 8201"/>
            </a:avLst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Shape 12"/>
          <p:cNvSpPr/>
          <p:nvPr/>
        </p:nvSpPr>
        <p:spPr>
          <a:xfrm>
            <a:off x="8275319" y="1252727"/>
            <a:ext cx="365761" cy="365762"/>
          </a:xfrm>
          <a:prstGeom prst="ellipse">
            <a:avLst/>
          </a:prstGeom>
          <a:solidFill>
            <a:srgbClr val="CADC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3"/>
          <p:cNvSpPr txBox="1"/>
          <p:nvPr/>
        </p:nvSpPr>
        <p:spPr>
          <a:xfrm>
            <a:off x="8321039" y="1295208"/>
            <a:ext cx="2743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" name="Text 14"/>
          <p:cNvSpPr txBox="1"/>
          <p:nvPr/>
        </p:nvSpPr>
        <p:spPr>
          <a:xfrm>
            <a:off x="8668646" y="1306507"/>
            <a:ext cx="30632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Deterministic escalation, human approval</a:t>
            </a:r>
          </a:p>
        </p:txBody>
      </p:sp>
      <p:sp>
        <p:nvSpPr>
          <p:cNvPr id="74" name="Text 15"/>
          <p:cNvSpPr txBox="1"/>
          <p:nvPr/>
        </p:nvSpPr>
        <p:spPr>
          <a:xfrm>
            <a:off x="8424034" y="1595164"/>
            <a:ext cx="306324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/>
            <a:r>
              <a:t>SEV-1 findings and status contradictions are never auto-published — a rule-based decision tree routes them to a human via Telegram.</a:t>
            </a:r>
          </a:p>
        </p:txBody>
      </p:sp>
      <p:sp>
        <p:nvSpPr>
          <p:cNvPr id="75" name="Text 16"/>
          <p:cNvSpPr txBox="1"/>
          <p:nvPr/>
        </p:nvSpPr>
        <p:spPr>
          <a:xfrm>
            <a:off x="594359" y="2345704"/>
            <a:ext cx="109728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>
                <a:solidFill>
                  <a:srgbClr val="5B647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System architecture</a:t>
            </a:r>
          </a:p>
        </p:txBody>
      </p:sp>
      <p:pic>
        <p:nvPicPr>
          <p:cNvPr id="7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12372" y="2484507"/>
            <a:ext cx="6256815" cy="42233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 txBox="1"/>
          <p:nvPr/>
        </p:nvSpPr>
        <p:spPr>
          <a:xfrm>
            <a:off x="594359" y="414020"/>
            <a:ext cx="1097280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Evaluated against a planted ground-truth answer key</a:t>
            </a:r>
          </a:p>
        </p:txBody>
      </p:sp>
      <p:sp>
        <p:nvSpPr>
          <p:cNvPr id="79" name="Text 1"/>
          <p:cNvSpPr txBox="1"/>
          <p:nvPr/>
        </p:nvSpPr>
        <p:spPr>
          <a:xfrm>
            <a:off x="594359" y="1002600"/>
            <a:ext cx="1097280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5B6472"/>
                </a:solidFill>
              </a:defRPr>
            </a:lvl1pPr>
          </a:lstStyle>
          <a:p>
            <a:pPr/>
            <a:r>
              <a:t>Not just “does it run” — does it surface the right risks, citing the right evidence.</a:t>
            </a:r>
          </a:p>
        </p:txBody>
      </p:sp>
      <p:sp>
        <p:nvSpPr>
          <p:cNvPr id="80" name="Shape 2"/>
          <p:cNvSpPr/>
          <p:nvPr/>
        </p:nvSpPr>
        <p:spPr>
          <a:xfrm>
            <a:off x="548640" y="160020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7F8FB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999999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" name="Shape 3"/>
          <p:cNvSpPr/>
          <p:nvPr/>
        </p:nvSpPr>
        <p:spPr>
          <a:xfrm>
            <a:off x="822960" y="1874520"/>
            <a:ext cx="411481" cy="411481"/>
          </a:xfrm>
          <a:prstGeom prst="ellipse">
            <a:avLst/>
          </a:prstGeom>
          <a:solidFill>
            <a:srgbClr val="1E7A3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4"/>
          <p:cNvSpPr txBox="1"/>
          <p:nvPr/>
        </p:nvSpPr>
        <p:spPr>
          <a:xfrm>
            <a:off x="868680" y="2423160"/>
            <a:ext cx="297180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Correctly triggered human escalation</a:t>
            </a:r>
          </a:p>
        </p:txBody>
      </p:sp>
      <p:sp>
        <p:nvSpPr>
          <p:cNvPr id="83" name="Text 5"/>
          <p:cNvSpPr txBox="1"/>
          <p:nvPr/>
        </p:nvSpPr>
        <p:spPr>
          <a:xfrm>
            <a:off x="868680" y="3383279"/>
            <a:ext cx="2971801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B6472"/>
                </a:solidFill>
              </a:defRPr>
            </a:lvl1pPr>
          </a:lstStyle>
          <a:p>
            <a:pPr/>
            <a:r>
              <a:t>On the single hardest planted case — a contradiction requiring evidence from 4 separate documents.</a:t>
            </a:r>
          </a:p>
        </p:txBody>
      </p:sp>
      <p:sp>
        <p:nvSpPr>
          <p:cNvPr id="84" name="Shape 6"/>
          <p:cNvSpPr/>
          <p:nvPr/>
        </p:nvSpPr>
        <p:spPr>
          <a:xfrm>
            <a:off x="4297679" y="1600200"/>
            <a:ext cx="3611881" cy="4480560"/>
          </a:xfrm>
          <a:prstGeom prst="roundRect">
            <a:avLst>
              <a:gd name="adj" fmla="val 2532"/>
            </a:avLst>
          </a:prstGeom>
          <a:solidFill>
            <a:srgbClr val="F7F8FB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999999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5" name="Shape 7"/>
          <p:cNvSpPr/>
          <p:nvPr/>
        </p:nvSpPr>
        <p:spPr>
          <a:xfrm>
            <a:off x="4572000" y="1874520"/>
            <a:ext cx="411481" cy="41148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8"/>
          <p:cNvSpPr txBox="1"/>
          <p:nvPr/>
        </p:nvSpPr>
        <p:spPr>
          <a:xfrm>
            <a:off x="4617720" y="2423160"/>
            <a:ext cx="2971801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Under-citation found, root-caused, fixed</a:t>
            </a:r>
          </a:p>
        </p:txBody>
      </p:sp>
      <p:sp>
        <p:nvSpPr>
          <p:cNvPr id="87" name="Text 9"/>
          <p:cNvSpPr txBox="1"/>
          <p:nvPr/>
        </p:nvSpPr>
        <p:spPr>
          <a:xfrm>
            <a:off x="4617720" y="3383279"/>
            <a:ext cx="2971801" cy="1200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B6472"/>
                </a:solidFill>
              </a:defRPr>
            </a:lvl1pPr>
          </a:lstStyle>
          <a:p>
            <a:pPr/>
            <a:r>
              <a:t>Initially cited 2 of 4 sources. A prompt edit alone had no effect — evidence inspection proved the model had all 4 and chose not to cite them. Fixed with a deterministic ticket-ID guardrail; now cites 4, verified against a real re-run.</a:t>
            </a:r>
          </a:p>
        </p:txBody>
      </p:sp>
      <p:sp>
        <p:nvSpPr>
          <p:cNvPr id="88" name="Shape 10"/>
          <p:cNvSpPr/>
          <p:nvPr/>
        </p:nvSpPr>
        <p:spPr>
          <a:xfrm>
            <a:off x="8046719" y="1600200"/>
            <a:ext cx="3611881" cy="4480560"/>
          </a:xfrm>
          <a:prstGeom prst="roundRect">
            <a:avLst>
              <a:gd name="adj" fmla="val 2532"/>
            </a:avLst>
          </a:prstGeom>
          <a:solidFill>
            <a:srgbClr val="F7F8FB"/>
          </a:solidFill>
          <a:ln w="12700">
            <a:miter lim="400000"/>
          </a:ln>
          <a:effectLst>
            <a:outerShdw sx="100000" sy="100000" kx="0" ky="0" algn="b" rotWithShape="0" blurRad="63500" dist="25400" dir="5400000">
              <a:srgbClr val="999999">
                <a:alpha val="2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9" name="Shape 11"/>
          <p:cNvSpPr/>
          <p:nvPr/>
        </p:nvSpPr>
        <p:spPr>
          <a:xfrm>
            <a:off x="8321040" y="1874520"/>
            <a:ext cx="411481" cy="411481"/>
          </a:xfrm>
          <a:prstGeom prst="ellipse">
            <a:avLst/>
          </a:prstGeom>
          <a:solidFill>
            <a:srgbClr val="C039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Text 12"/>
          <p:cNvSpPr txBox="1"/>
          <p:nvPr/>
        </p:nvSpPr>
        <p:spPr>
          <a:xfrm>
            <a:off x="8366759" y="2423160"/>
            <a:ext cx="2971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Zero hallucinated risks</a:t>
            </a:r>
          </a:p>
        </p:txBody>
      </p:sp>
      <p:sp>
        <p:nvSpPr>
          <p:cNvPr id="91" name="Text 13"/>
          <p:cNvSpPr txBox="1"/>
          <p:nvPr/>
        </p:nvSpPr>
        <p:spPr>
          <a:xfrm>
            <a:off x="8366759" y="3383279"/>
            <a:ext cx="2971801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5B6472"/>
                </a:solidFill>
              </a:defRPr>
            </a:lvl1pPr>
          </a:lstStyle>
          <a:p>
            <a:pPr/>
            <a:r>
              <a:t>Across both negative controls: a resolved issue and a fabricated budget/vendor scenario — neither appeared.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 txBox="1"/>
          <p:nvPr/>
        </p:nvSpPr>
        <p:spPr>
          <a:xfrm>
            <a:off x="594359" y="391159"/>
            <a:ext cx="1097280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Where this goes next</a:t>
            </a:r>
          </a:p>
        </p:txBody>
      </p:sp>
      <p:sp>
        <p:nvSpPr>
          <p:cNvPr id="94" name="Shape 13"/>
          <p:cNvSpPr/>
          <p:nvPr/>
        </p:nvSpPr>
        <p:spPr>
          <a:xfrm>
            <a:off x="1828800" y="3977640"/>
            <a:ext cx="8531353" cy="1"/>
          </a:xfrm>
          <a:prstGeom prst="line">
            <a:avLst/>
          </a:prstGeom>
          <a:ln>
            <a:solidFill>
              <a:srgbClr val="CADCFC"/>
            </a:solidFill>
            <a:prstDash val="dash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14"/>
          <p:cNvSpPr txBox="1"/>
          <p:nvPr/>
        </p:nvSpPr>
        <p:spPr>
          <a:xfrm>
            <a:off x="868680" y="4318701"/>
            <a:ext cx="1045159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500">
                <a:solidFill>
                  <a:srgbClr val="CADCFC"/>
                </a:solidFill>
              </a:defRPr>
            </a:lvl1pPr>
          </a:lstStyle>
          <a:p>
            <a:pPr/>
            <a:r>
              <a:t>Not “can AI summarize project information?”</a:t>
            </a:r>
          </a:p>
        </p:txBody>
      </p:sp>
      <p:sp>
        <p:nvSpPr>
          <p:cNvPr id="96" name="Text 15"/>
          <p:cNvSpPr txBox="1"/>
          <p:nvPr/>
        </p:nvSpPr>
        <p:spPr>
          <a:xfrm>
            <a:off x="868680" y="4762500"/>
            <a:ext cx="10451592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It's: “How do we safely use AI to improve operational decisions —</a:t>
            </a:r>
          </a:p>
          <a:p>
            <a: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without treating the AI itself as the source of truth?”</a:t>
            </a:r>
          </a:p>
        </p:txBody>
      </p:sp>
      <p:sp>
        <p:nvSpPr>
          <p:cNvPr id="97" name="Text 16"/>
          <p:cNvSpPr txBox="1"/>
          <p:nvPr/>
        </p:nvSpPr>
        <p:spPr>
          <a:xfrm>
            <a:off x="868680" y="6033201"/>
            <a:ext cx="1045159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CADCFC"/>
                </a:solidFill>
              </a:defRPr>
            </a:lvl1pPr>
          </a:lstStyle>
          <a:p>
            <a:pPr/>
            <a:r>
              <a:t>Thank you — questions welcome</a:t>
            </a:r>
          </a:p>
        </p:txBody>
      </p:sp>
      <p:sp>
        <p:nvSpPr>
          <p:cNvPr id="98" name="Shape 1"/>
          <p:cNvSpPr/>
          <p:nvPr/>
        </p:nvSpPr>
        <p:spPr>
          <a:xfrm>
            <a:off x="677383" y="1195227"/>
            <a:ext cx="3566161" cy="2471424"/>
          </a:xfrm>
          <a:prstGeom prst="roundRect">
            <a:avLst>
              <a:gd name="adj" fmla="val 2960"/>
            </a:avLst>
          </a:prstGeom>
          <a:solidFill>
            <a:srgbClr val="F5F7FC"/>
          </a:solidFill>
          <a:ln w="12700">
            <a:solidFill>
              <a:srgbClr val="DCE2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Shape 2"/>
          <p:cNvSpPr/>
          <p:nvPr/>
        </p:nvSpPr>
        <p:spPr>
          <a:xfrm>
            <a:off x="951703" y="1515267"/>
            <a:ext cx="548641" cy="54864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2404" y="1635968"/>
            <a:ext cx="307239" cy="307239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 3"/>
          <p:cNvSpPr txBox="1"/>
          <p:nvPr/>
        </p:nvSpPr>
        <p:spPr>
          <a:xfrm>
            <a:off x="1674993" y="1753847"/>
            <a:ext cx="229423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Sprint 1 — Pilot Validation</a:t>
            </a:r>
          </a:p>
        </p:txBody>
      </p:sp>
      <p:sp>
        <p:nvSpPr>
          <p:cNvPr id="102" name="Text 4"/>
          <p:cNvSpPr txBox="1"/>
          <p:nvPr/>
        </p:nvSpPr>
        <p:spPr>
          <a:xfrm>
            <a:off x="951703" y="2251027"/>
            <a:ext cx="3017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A6B8C"/>
                </a:solidFill>
              </a:defRPr>
            </a:lvl1pPr>
          </a:lstStyle>
          <a:p>
            <a:pPr/>
            <a:r>
              <a:t>Buyer</a:t>
            </a:r>
          </a:p>
        </p:txBody>
      </p:sp>
      <p:sp>
        <p:nvSpPr>
          <p:cNvPr id="103" name="Text 5"/>
          <p:cNvSpPr txBox="1"/>
          <p:nvPr/>
        </p:nvSpPr>
        <p:spPr>
          <a:xfrm>
            <a:off x="1415179" y="2241130"/>
            <a:ext cx="30175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E2761"/>
                </a:solidFill>
              </a:defRPr>
            </a:lvl1pPr>
          </a:lstStyle>
          <a:p>
            <a:pPr/>
            <a:r>
              <a:t>1–2 engineering managers</a:t>
            </a:r>
          </a:p>
        </p:txBody>
      </p:sp>
      <p:sp>
        <p:nvSpPr>
          <p:cNvPr id="104" name="Text 6"/>
          <p:cNvSpPr txBox="1"/>
          <p:nvPr/>
        </p:nvSpPr>
        <p:spPr>
          <a:xfrm>
            <a:off x="951703" y="2560893"/>
            <a:ext cx="301752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A6B8C"/>
                </a:solidFill>
              </a:defRPr>
            </a:lvl1pPr>
          </a:lstStyle>
          <a:p>
            <a:pPr/>
            <a:r>
              <a:t>Success metric</a:t>
            </a:r>
          </a:p>
        </p:txBody>
      </p:sp>
      <p:sp>
        <p:nvSpPr>
          <p:cNvPr id="105" name="Text 7"/>
          <p:cNvSpPr txBox="1"/>
          <p:nvPr/>
        </p:nvSpPr>
        <p:spPr>
          <a:xfrm>
            <a:off x="951703" y="2748300"/>
            <a:ext cx="301752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E2761"/>
                </a:solidFill>
              </a:defRPr>
            </a:lvl1pPr>
          </a:lstStyle>
          <a:p>
            <a:pPr/>
            <a:r>
              <a:t>Manual synthesis time reduced; ≥1 risk caught early</a:t>
            </a:r>
          </a:p>
        </p:txBody>
      </p:sp>
      <p:sp>
        <p:nvSpPr>
          <p:cNvPr id="106" name="Shape 8"/>
          <p:cNvSpPr/>
          <p:nvPr/>
        </p:nvSpPr>
        <p:spPr>
          <a:xfrm>
            <a:off x="4472143" y="1195227"/>
            <a:ext cx="3566161" cy="2471424"/>
          </a:xfrm>
          <a:prstGeom prst="roundRect">
            <a:avLst>
              <a:gd name="adj" fmla="val 2960"/>
            </a:avLst>
          </a:prstGeom>
          <a:solidFill>
            <a:srgbClr val="F5F7FC"/>
          </a:solidFill>
          <a:ln w="12700">
            <a:solidFill>
              <a:srgbClr val="DCE2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9"/>
          <p:cNvSpPr/>
          <p:nvPr/>
        </p:nvSpPr>
        <p:spPr>
          <a:xfrm>
            <a:off x="4746463" y="1515267"/>
            <a:ext cx="548641" cy="54864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867164" y="1635968"/>
            <a:ext cx="307239" cy="307239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 10"/>
          <p:cNvSpPr txBox="1"/>
          <p:nvPr/>
        </p:nvSpPr>
        <p:spPr>
          <a:xfrm>
            <a:off x="5409403" y="1694907"/>
            <a:ext cx="261614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Sprint 2 — Slack &amp; Jira Native</a:t>
            </a:r>
          </a:p>
        </p:txBody>
      </p:sp>
      <p:sp>
        <p:nvSpPr>
          <p:cNvPr id="110" name="Text 11"/>
          <p:cNvSpPr txBox="1"/>
          <p:nvPr/>
        </p:nvSpPr>
        <p:spPr>
          <a:xfrm>
            <a:off x="4867164" y="2252049"/>
            <a:ext cx="3017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A6B8C"/>
                </a:solidFill>
              </a:defRPr>
            </a:lvl1pPr>
          </a:lstStyle>
          <a:p>
            <a:pPr/>
            <a:r>
              <a:t>Buyer</a:t>
            </a:r>
          </a:p>
        </p:txBody>
      </p:sp>
      <p:sp>
        <p:nvSpPr>
          <p:cNvPr id="111" name="Text 12"/>
          <p:cNvSpPr txBox="1"/>
          <p:nvPr/>
        </p:nvSpPr>
        <p:spPr>
          <a:xfrm>
            <a:off x="5409403" y="2232255"/>
            <a:ext cx="250692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E2761"/>
                </a:solidFill>
              </a:defRPr>
            </a:lvl1pPr>
          </a:lstStyle>
          <a:p>
            <a:pPr/>
            <a:r>
              <a:t>Eng managers, tech leads, VP Eng</a:t>
            </a:r>
          </a:p>
        </p:txBody>
      </p:sp>
      <p:sp>
        <p:nvSpPr>
          <p:cNvPr id="112" name="Text 13"/>
          <p:cNvSpPr txBox="1"/>
          <p:nvPr/>
        </p:nvSpPr>
        <p:spPr>
          <a:xfrm>
            <a:off x="4867164" y="2615375"/>
            <a:ext cx="3017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A6B8C"/>
                </a:solidFill>
              </a:defRPr>
            </a:lvl1pPr>
          </a:lstStyle>
          <a:p>
            <a:pPr/>
            <a:r>
              <a:t>Success metric</a:t>
            </a:r>
          </a:p>
        </p:txBody>
      </p:sp>
      <p:sp>
        <p:nvSpPr>
          <p:cNvPr id="113" name="Text 14"/>
          <p:cNvSpPr txBox="1"/>
          <p:nvPr/>
        </p:nvSpPr>
        <p:spPr>
          <a:xfrm>
            <a:off x="4867164" y="2802783"/>
            <a:ext cx="30175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E2761"/>
                </a:solidFill>
              </a:defRPr>
            </a:lvl1pPr>
          </a:lstStyle>
          <a:p>
            <a:pPr/>
            <a:r>
              <a:t>40% weekly active usage; &lt;5 min onboarding</a:t>
            </a:r>
          </a:p>
        </p:txBody>
      </p:sp>
      <p:sp>
        <p:nvSpPr>
          <p:cNvPr id="114" name="Shape 15"/>
          <p:cNvSpPr/>
          <p:nvPr/>
        </p:nvSpPr>
        <p:spPr>
          <a:xfrm>
            <a:off x="8266903" y="1195227"/>
            <a:ext cx="3566160" cy="2471424"/>
          </a:xfrm>
          <a:prstGeom prst="roundRect">
            <a:avLst>
              <a:gd name="adj" fmla="val 2960"/>
            </a:avLst>
          </a:prstGeom>
          <a:solidFill>
            <a:srgbClr val="F5F7FC"/>
          </a:solidFill>
          <a:ln w="12700">
            <a:solidFill>
              <a:srgbClr val="DCE2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hape 16"/>
          <p:cNvSpPr/>
          <p:nvPr/>
        </p:nvSpPr>
        <p:spPr>
          <a:xfrm>
            <a:off x="8541223" y="1515267"/>
            <a:ext cx="548641" cy="54864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61923" y="1635968"/>
            <a:ext cx="307240" cy="307239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17"/>
          <p:cNvSpPr txBox="1"/>
          <p:nvPr/>
        </p:nvSpPr>
        <p:spPr>
          <a:xfrm>
            <a:off x="9185062" y="1693594"/>
            <a:ext cx="261615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Sprint 3 — Portfolio Dashboard</a:t>
            </a:r>
          </a:p>
        </p:txBody>
      </p:sp>
      <p:sp>
        <p:nvSpPr>
          <p:cNvPr id="118" name="Text 18"/>
          <p:cNvSpPr txBox="1"/>
          <p:nvPr/>
        </p:nvSpPr>
        <p:spPr>
          <a:xfrm>
            <a:off x="8541223" y="2252049"/>
            <a:ext cx="3017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A6B8C"/>
                </a:solidFill>
              </a:defRPr>
            </a:lvl1pPr>
          </a:lstStyle>
          <a:p>
            <a:pPr/>
            <a:r>
              <a:t>Buyer</a:t>
            </a:r>
          </a:p>
        </p:txBody>
      </p:sp>
      <p:sp>
        <p:nvSpPr>
          <p:cNvPr id="119" name="Text 19"/>
          <p:cNvSpPr txBox="1"/>
          <p:nvPr/>
        </p:nvSpPr>
        <p:spPr>
          <a:xfrm>
            <a:off x="9210689" y="2232255"/>
            <a:ext cx="30175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E2761"/>
                </a:solidFill>
              </a:defRPr>
            </a:lvl1pPr>
          </a:lstStyle>
          <a:p>
            <a:pPr/>
            <a:r>
              <a:t>CTO, VP Delivery, Eng Ops Director</a:t>
            </a:r>
          </a:p>
        </p:txBody>
      </p:sp>
      <p:sp>
        <p:nvSpPr>
          <p:cNvPr id="120" name="Text 20"/>
          <p:cNvSpPr txBox="1"/>
          <p:nvPr/>
        </p:nvSpPr>
        <p:spPr>
          <a:xfrm>
            <a:off x="8509582" y="2615375"/>
            <a:ext cx="3017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A6B8C"/>
                </a:solidFill>
              </a:defRPr>
            </a:lvl1pPr>
          </a:lstStyle>
          <a:p>
            <a:pPr/>
            <a:r>
              <a:t>Success metric</a:t>
            </a:r>
          </a:p>
        </p:txBody>
      </p:sp>
      <p:sp>
        <p:nvSpPr>
          <p:cNvPr id="121" name="Text 21"/>
          <p:cNvSpPr txBox="1"/>
          <p:nvPr/>
        </p:nvSpPr>
        <p:spPr>
          <a:xfrm>
            <a:off x="8509582" y="2802783"/>
            <a:ext cx="30175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E2761"/>
                </a:solidFill>
              </a:defRPr>
            </a:lvl1pPr>
          </a:lstStyle>
          <a:p>
            <a:pPr/>
            <a:r>
              <a:t>3 paid pilot conversions; 25% less scope creep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